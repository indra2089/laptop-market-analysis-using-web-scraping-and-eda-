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318" r:id="rId3"/>
    <p:sldId id="261" r:id="rId4"/>
    <p:sldId id="281" r:id="rId5"/>
    <p:sldId id="263" r:id="rId6"/>
    <p:sldId id="299" r:id="rId7"/>
    <p:sldId id="265" r:id="rId8"/>
    <p:sldId id="264" r:id="rId9"/>
    <p:sldId id="266" r:id="rId10"/>
    <p:sldId id="282" r:id="rId11"/>
    <p:sldId id="300" r:id="rId12"/>
    <p:sldId id="267" r:id="rId13"/>
    <p:sldId id="305" r:id="rId14"/>
    <p:sldId id="304" r:id="rId15"/>
    <p:sldId id="306" r:id="rId16"/>
    <p:sldId id="310" r:id="rId17"/>
    <p:sldId id="311" r:id="rId18"/>
    <p:sldId id="312" r:id="rId19"/>
    <p:sldId id="314" r:id="rId20"/>
    <p:sldId id="315" r:id="rId21"/>
    <p:sldId id="316" r:id="rId22"/>
    <p:sldId id="317" r:id="rId23"/>
    <p:sldId id="259" r:id="rId24"/>
  </p:sldIdLst>
  <p:sldSz cx="12192000" cy="6858000"/>
  <p:notesSz cx="6858000" cy="9144000"/>
  <p:embeddedFontLst>
    <p:embeddedFont>
      <p:font typeface="Algerian" panose="04020705040A02060702" pitchFamily="82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3393" autoAdjust="0"/>
  </p:normalViewPr>
  <p:slideViewPr>
    <p:cSldViewPr snapToGrid="0">
      <p:cViewPr varScale="1">
        <p:scale>
          <a:sx n="63" d="100"/>
          <a:sy n="63" d="100"/>
        </p:scale>
        <p:origin x="676" y="56"/>
      </p:cViewPr>
      <p:guideLst/>
    </p:cSldViewPr>
  </p:slideViewPr>
  <p:outlineViewPr>
    <p:cViewPr>
      <p:scale>
        <a:sx n="33" d="100"/>
        <a:sy n="33" d="100"/>
      </p:scale>
      <p:origin x="0" y="-29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40"/>
    </p:cViewPr>
  </p:sorterViewPr>
  <p:notesViewPr>
    <p:cSldViewPr snapToGrid="0">
      <p:cViewPr varScale="1">
        <p:scale>
          <a:sx n="61" d="100"/>
          <a:sy n="61" d="100"/>
        </p:scale>
        <p:origin x="248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8818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lipkart.com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2941910" y="3764280"/>
            <a:ext cx="75330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Market Analysis Using 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and EDA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683C51-0FA9-2E40-CAEE-5BC89A8AFB00}"/>
              </a:ext>
            </a:extLst>
          </p:cNvPr>
          <p:cNvSpPr txBox="1"/>
          <p:nvPr/>
        </p:nvSpPr>
        <p:spPr>
          <a:xfrm>
            <a:off x="1127760" y="382012"/>
            <a:ext cx="89611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Algerian" panose="04020705040A02060702" pitchFamily="82" charset="0"/>
                <a:ea typeface="Lato Black"/>
                <a:cs typeface="Times New Roman" panose="02020603050405020304" pitchFamily="18" charset="0"/>
                <a:sym typeface="Lato Black"/>
              </a:rPr>
              <a:t>TITLE: </a:t>
            </a:r>
            <a:endParaRPr lang="en-IN" sz="4800" b="1" dirty="0">
              <a:solidFill>
                <a:srgbClr val="FF0000"/>
              </a:solidFill>
              <a:latin typeface="Algerian" panose="04020705040A02060702" pitchFamily="82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r>
              <a:rPr lang="en-US" sz="4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Laptop Market Analysis Using </a:t>
            </a:r>
          </a:p>
          <a:p>
            <a:r>
              <a:rPr lang="en-US" sz="4800" b="1" dirty="0">
                <a:latin typeface="Algerian" panose="04020705040A02060702" pitchFamily="82" charset="0"/>
                <a:cs typeface="Times New Roman" panose="02020603050405020304" pitchFamily="18" charset="0"/>
              </a:rPr>
              <a:t>Web Scraping and EDA</a:t>
            </a:r>
          </a:p>
        </p:txBody>
      </p:sp>
      <p:pic>
        <p:nvPicPr>
          <p:cNvPr id="2050" name="Picture 2" descr="APPLE MACBOOK PRO 15&quot; RETINA Laptop ...">
            <a:extLst>
              <a:ext uri="{FF2B5EF4-FFF2-40B4-BE49-F238E27FC236}">
                <a16:creationId xmlns:a16="http://schemas.microsoft.com/office/drawing/2014/main" id="{92C3C0BB-E2C6-6F85-214B-359CF6A11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960" y="3521074"/>
            <a:ext cx="5557519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57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179" y="300812"/>
            <a:ext cx="10073639" cy="98975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AB66622-5267-F6AE-C8ED-E558C1E65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59181" y="1688574"/>
            <a:ext cx="1007363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collects laptop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websites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EDA (Exploratory Data Analysis)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study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laptop market trends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goal is to understand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prices, brands, features, and specifications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tools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BeautifulSoup, Pandas, Matplotlib, and Seaborn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   analysis.</a:t>
            </a:r>
          </a:p>
          <a:p>
            <a:pPr marL="342900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000" b="1" dirty="0" err="1"/>
              <a:t>BeautifulSoup</a:t>
            </a:r>
            <a:r>
              <a:rPr lang="en-US" sz="2000" b="1" dirty="0"/>
              <a:t> helps extract data from websites</a:t>
            </a:r>
            <a:r>
              <a:rPr lang="en-US" sz="2000" dirty="0"/>
              <a:t> by reading the HTML code.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shows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brands give better value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prices change with features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gives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view of the laptop market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helps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buying decisions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640" y="252662"/>
            <a:ext cx="10136156" cy="98975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AAC8C6-B3A5-5367-1724-1E910FA379A7}"/>
              </a:ext>
            </a:extLst>
          </p:cNvPr>
          <p:cNvSpPr txBox="1"/>
          <p:nvPr/>
        </p:nvSpPr>
        <p:spPr>
          <a:xfrm>
            <a:off x="1056640" y="1563900"/>
            <a:ext cx="10136156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There are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laptop brands and models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it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for buyers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compare and choose the best option.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Laptop prices and features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keep changing frequently on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e-commerce websites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Customers often face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about which brand offers better value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their money.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Businesses and sellers lack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insights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trends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popular features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preferences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There is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single dataset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available that combines all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laptop details, prices, and specifications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one place.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solve this,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to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data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helps to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and visualize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market patterns and trends.</a:t>
            </a:r>
          </a:p>
        </p:txBody>
      </p:sp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412" y="304711"/>
            <a:ext cx="9999027" cy="90913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1078D2-3750-6FF2-8516-202D99D3BA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14412" y="1933060"/>
            <a:ext cx="9999026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laptop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(brand, price, specifications, rating, etc.)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websites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and organize the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easy understanding and analysis.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laptop prices, features, and brands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find useful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patterns and trends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brands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identify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gives better value for money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create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show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trends, price ranges, and popular features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help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buyers and businesses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real market insights.</a:t>
            </a: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BB32B-DA84-AA14-30C8-B817E9EA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BA72-AAC0-701C-10C3-ED9937199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703" y="128104"/>
            <a:ext cx="9985417" cy="70501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&amp; Target Variable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719B2-37A0-B7FE-AA6A-09881B265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1703" y="985520"/>
            <a:ext cx="9985417" cy="527304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https://www.flipkart.com/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904 laptop models , 8 Features.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RAM, Processor Type, Rating (represents speed, quality, and performance).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 Display: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 (Storage Capacity), Display Size (in inches).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&amp; Model: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Name, Model Name — help in comparing different laptop brands and series.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Price: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Price (₹) — varies with specifications and brand.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Price (₹)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represents the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price of the laptop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used to analyze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and performance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differences.</a:t>
            </a:r>
            <a:endParaRPr lang="en-I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908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54" y="187944"/>
            <a:ext cx="5273333" cy="6840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DD2387-6FA8-90E4-6BF3-C10713124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000" y="430277"/>
            <a:ext cx="5187191" cy="5608646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A07C577F-012F-3C6A-1819-42EE773D3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72CD7F-FFB4-0566-83D8-F6D1443C0BF6}"/>
              </a:ext>
            </a:extLst>
          </p:cNvPr>
          <p:cNvSpPr txBox="1"/>
          <p:nvPr/>
        </p:nvSpPr>
        <p:spPr>
          <a:xfrm>
            <a:off x="521400" y="1010367"/>
            <a:ext cx="6197600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Extracted laptop data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from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trusted e-commerce websites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using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Python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libraries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scrape product details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Collected key attributes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Brand, Model, Processor, RAM, ROM, Display Size, Rating, and 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and structured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scraped data into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 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further analysis.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removing duplicates and fixing missing or inconsistent values.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final dataset was ready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trends and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0888" y="246935"/>
            <a:ext cx="6550223" cy="82386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4" y="1461738"/>
            <a:ext cx="4083169" cy="1362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4425130"/>
            <a:ext cx="4010025" cy="1428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1461738"/>
            <a:ext cx="4019550" cy="1400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5" y="4425129"/>
            <a:ext cx="4083169" cy="1362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193" y="3063874"/>
            <a:ext cx="4019550" cy="1133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969" y="184666"/>
            <a:ext cx="9952071" cy="72367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 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DCCC-4D7B-11A3-E7AE-A55D7E9A484F}"/>
              </a:ext>
            </a:extLst>
          </p:cNvPr>
          <p:cNvSpPr txBox="1"/>
          <p:nvPr/>
        </p:nvSpPr>
        <p:spPr>
          <a:xfrm>
            <a:off x="908969" y="1336119"/>
            <a:ext cx="9952071" cy="41857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and duplicate values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dataset.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units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RAM, ROM, and Display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columns.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Filled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ratings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similar brands.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 names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filled missing ones with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values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and Rating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 format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analysis.</a:t>
            </a:r>
            <a:b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well-structured dataset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accurate values — ready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visualization.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F24CB51-5CBE-4A15-0BF2-B5223676C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081" y="1980342"/>
            <a:ext cx="10861482" cy="2897315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1: </a:t>
            </a:r>
            <a:r>
              <a:rPr lang="en-IN" sz="4800" b="1" dirty="0"/>
              <a:t>UNIVARIATE ANALYSIS</a:t>
            </a:r>
          </a:p>
        </p:txBody>
      </p:sp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3316A-56A2-A821-2631-6FE5D7DB1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B28B6-85AA-4CFE-66C5-1D4C2C28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97" y="176968"/>
            <a:ext cx="6801283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 Market Share Analysis</a:t>
            </a:r>
            <a:endParaRPr lang="en-IN" sz="4000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29A70F3-81D0-0136-47A1-0BABA91EA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97" y="791557"/>
            <a:ext cx="5947013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Leaders: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DELL (30.8%)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Samsung (21.7%)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Acer (21.4%)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the top brands dominating the laptop market.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Mid-Level Brands: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ASUS (10.3%)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HP (8.2%)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Lenovo (7.6%)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hold smaller but significant shares.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3 Brands: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3 brands control 73.9%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laptop market.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Concentration: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laptop market shows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concentration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among a few leading brands.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 Tail: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few other brands exist but have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small market presence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the top ones.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market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competitive yet brand-dominant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DELL, Samsung, and Acer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leading the segment.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AF8672-9C75-B8C9-6989-C0AFD11CC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721" y="842818"/>
            <a:ext cx="5328083" cy="27025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1E05E9-95C7-543E-3DF5-91D7B87E5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21" y="3596639"/>
            <a:ext cx="4972482" cy="258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849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06236"/>
            <a:ext cx="10966417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Key Performance Metrics Distribution </a:t>
            </a:r>
            <a:endParaRPr lang="en-IN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21342-FF3B-A195-33FF-DA36CFC36F5B}"/>
              </a:ext>
            </a:extLst>
          </p:cNvPr>
          <p:cNvSpPr txBox="1"/>
          <p:nvPr/>
        </p:nvSpPr>
        <p:spPr>
          <a:xfrm>
            <a:off x="612775" y="1039917"/>
            <a:ext cx="10966417" cy="21852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Around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₹44,000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most laptops range between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₹35K–₹55K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 &amp; Highest Price: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₹15,990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₹75,490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Around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showing good overall quality.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 Range: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3.8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4.5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brands.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Mid-range laptops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most common in the dataset.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High-end models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(above ₹70K) offer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premium performance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specs.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3E88FF-B69D-04A1-6664-87515585B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-11509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D6A698-603E-499E-0F34-24ED7F724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59" y="3332480"/>
            <a:ext cx="5056521" cy="29140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DA8AD0-B424-535E-1BFC-AAA3ACF4B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22" y="3332481"/>
            <a:ext cx="4965063" cy="280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D54F9-98B2-7792-7F14-7B8E0226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46A8-C871-9BE4-2548-35A022604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081" y="1980342"/>
            <a:ext cx="10861482" cy="2897315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2:</a:t>
            </a:r>
            <a:r>
              <a:rPr lang="en-IN" sz="4800" b="1" dirty="0"/>
              <a:t> BIVARIATE ANALYSIS</a:t>
            </a:r>
          </a:p>
        </p:txBody>
      </p:sp>
    </p:spTree>
    <p:extLst>
      <p:ext uri="{BB962C8B-B14F-4D97-AF65-F5344CB8AC3E}">
        <p14:creationId xmlns:p14="http://schemas.microsoft.com/office/powerpoint/2010/main" val="2198513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8A9E-BA37-EA22-450E-5B77A2EA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AE43-1E8E-EC0B-6489-CB0F5E5C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646" y="170504"/>
            <a:ext cx="10376035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Critical Performance Relationships</a:t>
            </a:r>
            <a:endParaRPr lang="en-IN" sz="4000" b="1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92236074-EB66-6BED-2E05-700FE04D239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0999" y="903728"/>
            <a:ext cx="526288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vs Rating: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and rating have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weak relation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expensive laptops don’t always get higher ratings.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vs RAM: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RAM → Higher 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(16 GB and 32 GB laptops are costlier).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vs Brand: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ASUS and Samsung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premium brands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Acer and HP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budget-friendly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 vs Brand: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Samsung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high customer satisfaction.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vs Processor: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i7 and Ultra 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laptops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expensive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i3 and Celeron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low-cost options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608B505-5797-ED74-18C9-94629D960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174" y="1005840"/>
            <a:ext cx="5079507" cy="513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345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B1A73-DE21-A33A-4A8E-D8D7972C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C2381-CB60-E82B-C2EB-0115D9C63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127" y="170504"/>
            <a:ext cx="8126234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 Performance Positioning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A4C48A-A784-2DEF-80B8-37C9C2960B5E}"/>
              </a:ext>
            </a:extLst>
          </p:cNvPr>
          <p:cNvSpPr txBox="1"/>
          <p:nvPr/>
        </p:nvSpPr>
        <p:spPr>
          <a:xfrm>
            <a:off x="631216" y="1044790"/>
            <a:ext cx="4848229" cy="41549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ASUS &amp; Samsung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Lead in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and price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premium laptops.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DELL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Offers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quality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 to high price range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Acer &amp; HP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Budget-friendly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good performance.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Samsung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customer ratings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(~4.4–4.5).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Lenovo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brand with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mid-range models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810A8A9-2DF3-BF18-F61F-5A1F102C4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583930-0444-03AE-7816-F2F388082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778" y="904983"/>
            <a:ext cx="5900286" cy="23002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55C81C-F0EC-18A6-218D-A4D917FB0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410" y="3429000"/>
            <a:ext cx="5900286" cy="245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6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7A2A1-2070-CBA1-B1FF-8D2D678D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E0CD-4893-FACF-701B-8E69063A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081" y="1980342"/>
            <a:ext cx="10861482" cy="2897315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3:</a:t>
            </a:r>
            <a:r>
              <a:rPr lang="en-IN" b="1" dirty="0"/>
              <a:t> MULTIVARIATE ANALYSIS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3072440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B70C-DE0F-2DDB-9734-14438D16B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5777-9C40-4AA0-0442-ADC4DDA46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127" y="170504"/>
            <a:ext cx="7906123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 Variate Analysis</a:t>
            </a:r>
            <a:endParaRPr lang="en-IN" sz="4000" b="1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DF4EB8D-BF15-3F6D-E2AC-CC16B726D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543" y="2921169"/>
            <a:ext cx="502563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6B095C-905E-DB6C-D538-894D442A4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560" y="1006190"/>
            <a:ext cx="6695440" cy="517175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60A6063-33EB-F676-25DC-F32F2F88418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82782" y="1083690"/>
            <a:ext cx="511377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brands have ratings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above 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 customers are happy.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Samsung, DELL, and ASUS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the best ratings.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Acer and HP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slightly lower ratings but still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above 3.8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processors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(i5, i7, Ryzen 5, etc.) get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ratings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processors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(i3, Celeron, Ryzen 3) get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ratings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still okay.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DELL and ASUS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 well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any processor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 depend more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processor quality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than brand name.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 are mostly similar across brands, showing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stable market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1880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97E80-4A72-0B62-3C79-A67D040D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B4A2A-D363-BE60-6BB5-F1864E8ED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127" y="170504"/>
            <a:ext cx="7906123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Correlation Patterns</a:t>
            </a:r>
            <a:endParaRPr lang="en-IN" sz="4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F04FDE-0975-68AD-52A6-1B853D320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40" y="985520"/>
            <a:ext cx="5354320" cy="5151120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B2F67B2E-657E-F3C8-AD2D-AD95F1E2054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22960" y="827943"/>
            <a:ext cx="5466079" cy="5859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increases when RAM increases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more RAM = higher price.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also increases with better processors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not as much as RAM.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Expensive laptops get slightly better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small positive link.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Storage (ROM) does not affect price much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very weak relation.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 go up a little with better processors and more RAM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the effect is small.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 and Processor usually go together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higher RAM laptops often have better processors.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 and ROM have no link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they don’t depend on each other.</a:t>
            </a:r>
          </a:p>
        </p:txBody>
      </p:sp>
    </p:spTree>
    <p:extLst>
      <p:ext uri="{BB962C8B-B14F-4D97-AF65-F5344CB8AC3E}">
        <p14:creationId xmlns:p14="http://schemas.microsoft.com/office/powerpoint/2010/main" val="2774106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02994-851A-5E4A-9135-28B13D05C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4A181-3617-D687-B084-F504149F1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100" y="106894"/>
            <a:ext cx="9819799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Key Business Insights &amp; Recommendations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46C4EEF-9940-0F34-0654-1E2960B29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59" y="798132"/>
            <a:ext cx="1024128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 drives performance and pricing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Laptops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RAM (16GB/32GB)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performance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prices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Processor type impacts value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i7 and Ultra 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 dominate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premium market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i3 and Celeron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suit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 buyers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 value matters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ASUS, Samsung, and DELL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charge more even for similar specs, showing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brand influence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satisfaction is stable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Ratings stay around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4.1–4.4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proving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 quality across brands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market segmentation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Acer, HP – under ₹35K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Mid-Range: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DELL, Lenovo – ₹35K–₹55K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Premium: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ASUS, Samsung – above ₹55K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specs and pricing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prefer value for money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luxury branding.</a:t>
            </a:r>
          </a:p>
        </p:txBody>
      </p:sp>
    </p:spTree>
    <p:extLst>
      <p:ext uri="{BB962C8B-B14F-4D97-AF65-F5344CB8AC3E}">
        <p14:creationId xmlns:p14="http://schemas.microsoft.com/office/powerpoint/2010/main" val="648592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C59BE-7EDF-2EC5-245A-234DB1918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2DAA-CA89-C6D9-ED0B-BE6765462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100" y="106894"/>
            <a:ext cx="9819799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Conclusion 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E4B9DF2-8A2F-1B96-6895-2C810BE80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124" y="1045026"/>
            <a:ext cx="989177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laptop market is growing steadily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healthy competition between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brands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DELL, ASUS, Samsung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emerging ones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Acer and HP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 capacity, processor performance, and storage speed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driving market trends and customer choices.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Brands follow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 strategies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performance-focused laptops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(ASUS, Samsung)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budget-friendly options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(Acer, HP), catering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varied user needs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market shows clear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Budget, Mid-Range, and Premium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categories based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and specs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growing focus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value for money, brand trust, and user satisfaction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will shape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of laptop sales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3312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CFFBA-D6EC-8B7D-9B7F-5BD4848BF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F4F8-76EE-540B-C293-8CD25A5AF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181" y="208494"/>
            <a:ext cx="10565633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Experience – Web Scraping &amp; Data Analysis</a:t>
            </a:r>
            <a:endParaRPr lang="en-IN" sz="40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5D97F71-3F9D-3BEA-9C83-FF80C8080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788" y="1175133"/>
            <a:ext cx="1067441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Collected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laptop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online shopping websites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(BeautifulSoup &amp; Requests)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Processed and standardized the data —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duplicates, handled missing values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corrected formatting issues.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Analyzed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price, brand, RAM, processor, and rating trends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Pandas, Matplotlib, and Seaborn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find hidden patterns.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 Generation: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Identified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 performance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vs specs relations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segmentation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(Budget, Mid-Range, Premium).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Practical Outcome: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Built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clean, insight-rich dataset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showing how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price, performance, and brand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influence customer choices in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laptop market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0744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8263E-49B5-8E21-9B7D-C1C1C2ED7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86210-D526-CEEB-7E7C-1E55FBE2E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181" y="208494"/>
            <a:ext cx="10565633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– Web Scraping &amp; Data Analysis</a:t>
            </a:r>
            <a:endParaRPr lang="en-IN" sz="40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7BB2B9B-A255-5178-0FF2-8B4BACB7C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190" y="1096553"/>
            <a:ext cx="9803484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Laptop details were different on each website.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data: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Some laptops had incomplete specs or wrong values.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Needed to fix symbols and text (like “GB”, “₹”) before analysis.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Had to make RAM, storage, and processor formats uniform.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Choosing the best charts to show brand and price trends clearly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7952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Powerpoint Templates - PPT Backgrounds ...">
            <a:extLst>
              <a:ext uri="{FF2B5EF4-FFF2-40B4-BE49-F238E27FC236}">
                <a16:creationId xmlns:a16="http://schemas.microsoft.com/office/drawing/2014/main" id="{4F2C20EC-E7F2-40DF-5007-90A954370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627"/>
            <a:ext cx="12192000" cy="6987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2157</TotalTime>
  <Words>1678</Words>
  <Application>Microsoft Office PowerPoint</Application>
  <PresentationFormat>Widescreen</PresentationFormat>
  <Paragraphs>131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Times New Roman</vt:lpstr>
      <vt:lpstr>Wingdings</vt:lpstr>
      <vt:lpstr>Calibri</vt:lpstr>
      <vt:lpstr>Arial</vt:lpstr>
      <vt:lpstr>quote-cjk-patch</vt:lpstr>
      <vt:lpstr>Algerian</vt:lpstr>
      <vt:lpstr>Office Theme</vt:lpstr>
      <vt:lpstr>PowerPoint Presentation</vt:lpstr>
      <vt:lpstr>PowerPoint Presentation</vt:lpstr>
      <vt:lpstr>INTRODUCTION</vt:lpstr>
      <vt:lpstr>BUSINESS PROBLEM</vt:lpstr>
      <vt:lpstr>OBJECTIVES</vt:lpstr>
      <vt:lpstr>The Dataset &amp; Target Variable</vt:lpstr>
      <vt:lpstr>Web Scraping </vt:lpstr>
      <vt:lpstr>TOOLS USED</vt:lpstr>
      <vt:lpstr>Data Cleaning Steps </vt:lpstr>
      <vt:lpstr>PART 1: UNIVARIATE ANALYSIS</vt:lpstr>
      <vt:lpstr>Brand Market Share Analysis</vt:lpstr>
      <vt:lpstr>                 Key Performance Metrics Distribution </vt:lpstr>
      <vt:lpstr>PART 2: BIVARIATE ANALYSIS</vt:lpstr>
      <vt:lpstr>        Critical Performance Relationships</vt:lpstr>
      <vt:lpstr>Brand Performance Positioning</vt:lpstr>
      <vt:lpstr>PART 3: MULTIVARIATE ANALYSIS</vt:lpstr>
      <vt:lpstr> Multi Variate Analysis</vt:lpstr>
      <vt:lpstr> Correlation Patterns</vt:lpstr>
      <vt:lpstr>Key Business Insights &amp; Recommendations</vt:lpstr>
      <vt:lpstr>Conclusion </vt:lpstr>
      <vt:lpstr>Experience – Web Scraping &amp; Data Analysis</vt:lpstr>
      <vt:lpstr>Challenges – Web Scraping &amp; Data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kishore</dc:creator>
  <cp:lastModifiedBy>RISHI KUMAR</cp:lastModifiedBy>
  <cp:revision>49</cp:revision>
  <dcterms:created xsi:type="dcterms:W3CDTF">2021-02-16T05:19:01Z</dcterms:created>
  <dcterms:modified xsi:type="dcterms:W3CDTF">2025-11-13T06:55:18Z</dcterms:modified>
</cp:coreProperties>
</file>